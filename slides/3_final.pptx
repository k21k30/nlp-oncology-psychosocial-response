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pic>
        <p:nvPicPr>
          <p:cNvPr id="7" name="Picture 6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  <p:pic>
        <p:nvPicPr>
          <p:cNvPr id="11" name="Picture 10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1143000"/>
            <a:ext cx="3566160" cy="13829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98567" y="2907792"/>
            <a:ext cx="2194560" cy="32004"/>
          </a:xfrm>
          <a:prstGeom prst="rect">
            <a:avLst/>
          </a:prstGeom>
          <a:solidFill>
            <a:srgbClr val="1FA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0" b="1" i="0">
                <a:solidFill>
                  <a:srgbClr val="0D1B6E"/>
                </a:solidFill>
                <a:latin typeface="Cambria"/>
              </a:rPr>
              <a:t>Dominant Psychosocial Response &amp; Distress
Classification in Oncology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16828E"/>
                </a:solidFill>
                <a:latin typeface="Calibri"/>
              </a:rPr>
              <a:t>Final  -  methodology, results, and conclusions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Calibri"/>
              </a:rPr>
              <a:t>K.T.   |   HIT   |   A.A.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PROJECT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Task, recap and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881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Goal: from one oncology message, predict the dominant psychosocial response (7 classes) and the ordinal distress level (low / medium / high).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Data: 2,033 generated messages, 2,025 valid audited, and 1,273 model-ready items across quality tiers - no real patient data, no label leakage.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Methods &amp; metrics: three model families compared with macro-F1, ordinal weighted kappa / MAE, and 5000-resample bootstrap, validated by a blind human reading.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10881360" cy="12801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965192"/>
            <a:ext cx="10552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Refinement since proposal: “emotion” -&gt; “dominant psychosocial response”; added dual-judge auditing,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quality tiers, the leakage ban, and ordinal-aware distress metrics.</a:t>
            </a:r>
          </a:p>
        </p:txBody>
      </p:sp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ACHIEVEMENTS &amp;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What we built and what is 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881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Built and audited a 2,025-message synthetic corpus (2,033 generated); 1,273 items retained as model-ready, in strict / silver / consensus tiers.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Compared three model families on both tasks; DistilBERT was evaluated over five random seeds, while TF-IDF and zero-shot baselines were deterministic; with bootstrap significance testing and a blind human validation.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Delivered a consolidated error analysis (anger artifact, anxiety over-prediction, low / medium distress boundary).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881360" cy="1280160"/>
          </a:xfrm>
          <a:prstGeom prst="roundRect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5010912"/>
            <a:ext cx="10552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E2EC"/>
                </a:solidFill>
                <a:latin typeface="Calibri"/>
              </a:rPr>
              <a:t>Novelty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 jointly study fine-grained psychosocial response type and ordinal distress intensity using an attribute-controlled synthetic corpus, dual-LLM auditing, quality tiers, and blind human validation.</a:t>
            </a:r>
          </a:p>
        </p:txBody>
      </p:sp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End-to-end 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559052" cy="1691640"/>
          </a:xfrm>
          <a:prstGeom prst="roundRect">
            <a:avLst/>
          </a:prstGeom>
          <a:solidFill>
            <a:srgbClr val="318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Attribute-based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generation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(gemma2:27b)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7692" y="3186684"/>
            <a:ext cx="201168" cy="256032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00300" y="2468880"/>
            <a:ext cx="1559052" cy="1691640"/>
          </a:xfrm>
          <a:prstGeom prst="roundRect">
            <a:avLst/>
          </a:prstGeom>
          <a:solidFill>
            <a:srgbClr val="31A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Dual-LLM-judge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(gpt-4o-mini +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qwen2.5:32b)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0791" y="3186684"/>
            <a:ext cx="201168" cy="256032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399" y="2468880"/>
            <a:ext cx="1559052" cy="1691640"/>
          </a:xfrm>
          <a:prstGeom prst="roundRect">
            <a:avLst/>
          </a:prstGeom>
          <a:solidFill>
            <a:srgbClr val="75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Quality tiers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strict / silver /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consensus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(1273 ready)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93891" y="3186684"/>
            <a:ext cx="201168" cy="256032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6499" y="2468880"/>
            <a:ext cx="1559052" cy="1691640"/>
          </a:xfrm>
          <a:prstGeom prst="roundRect">
            <a:avLst/>
          </a:prstGeom>
          <a:solidFill>
            <a:srgbClr val="E655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Frozen splits +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blind human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36991" y="3186684"/>
            <a:ext cx="201168" cy="256032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9" y="2468880"/>
            <a:ext cx="1559052" cy="1691640"/>
          </a:xfrm>
          <a:prstGeom prst="roundRect">
            <a:avLst/>
          </a:prstGeom>
          <a:solidFill>
            <a:srgbClr val="085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TF-IDF /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DistilBERT /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80091" y="3186684"/>
            <a:ext cx="201168" cy="256032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72699" y="2468880"/>
            <a:ext cx="1559052" cy="1691640"/>
          </a:xfrm>
          <a:prstGeom prst="roundRect">
            <a:avLst/>
          </a:prstGeom>
          <a:solidFill>
            <a:srgbClr val="A636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Bootstrap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+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95% CIs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Effort for quality: five random seeds per DistilBERT configuration (report mean +/- std); TF-IDF and zero-shot baselines are deterministic. Plus a class-weighting control, 5000-resample bootstrap CIs, and a blind 67-item human check.</a:t>
            </a:r>
          </a:p>
          <a:p>
            <a:pPr algn="l"/>
            <a:r>
              <a:rPr sz="1350" b="1" i="0">
                <a:solidFill>
                  <a:srgbClr val="16828E"/>
                </a:solidFill>
                <a:latin typeface="Calibri"/>
              </a:rPr>
              <a:t>Human check: response kappa 0.84; distress weighted kappa 0.80 linear / 0.86 quadratic.</a:t>
            </a:r>
          </a:p>
        </p:txBody>
      </p:sp>
      <p:pic>
        <p:nvPicPr>
          <p:cNvPr id="22" name="Picture 2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Cross-task results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28800"/>
          <a:ext cx="5943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91640"/>
                <a:gridCol w="1691640"/>
                <a:gridCol w="1188720"/>
              </a:tblGrid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Best lexical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Best transf.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TF-IDF-B 0.856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DistilBERT-C 0.834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BART 0.732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Distress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TF-IDF-B 0.805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DistilBERT-B 0.864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BART 0.468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7033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D1B6E"/>
                </a:solidFill>
                <a:latin typeface="Calibri"/>
              </a:rPr>
              <a:t>Reliable conclusions (bootstrap):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●  Supervised &gt; zero-shot descriptively on both tasks; bootstrap-confirmed for TF-IDF-B on response and both models on distress.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●  Lexical vs. transformer was NOT separable on 67 items (CIs include 0).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●  More synthetic data is not uniformly better: peak tier depends on task and model.</a:t>
            </a:r>
          </a:p>
        </p:txBody>
      </p:sp>
      <p:pic>
        <p:nvPicPr>
          <p:cNvPr id="12" name="Picture 11" descr="results_tier_contr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74519"/>
            <a:ext cx="5486400" cy="2062886"/>
          </a:xfrm>
          <a:prstGeom prst="rect">
            <a:avLst/>
          </a:prstGeom>
        </p:spPr>
      </p:pic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66928"/>
            <a:ext cx="475488" cy="475488"/>
          </a:xfrm>
          <a:prstGeom prst="ellipse">
            <a:avLst/>
          </a:prstGeom>
          <a:solidFill>
            <a:srgbClr val="1FA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8521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BE2EC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Conclusions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A6C1"/>
                </a:solidFill>
                <a:latin typeface="Calibri"/>
              </a:rPr>
              <a:t>Goals achieved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competitive classifiers for both tasks, with a rigorous, honestly-scoped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A6C1"/>
                </a:solidFill>
                <a:latin typeface="Calibri"/>
              </a:rPr>
              <a:t>What we learned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sparse lexical model is highly competitive for response; the transformer leads distress on the mean but not provably; more consensus data is not always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A6C1"/>
                </a:solidFill>
                <a:latin typeface="Calibri"/>
              </a:rPr>
              <a:t>Residual errors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concentrated at semantically ambiguous boundaries (low / medium distress), not extreme low/high errors; high distress was detected reliably on the synthetic test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A6C1"/>
                </a:solidFill>
                <a:latin typeface="Calibri"/>
              </a:rPr>
              <a:t>Scope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synthetic-only evaluation, one human annotator, and a 67-item test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A6C1"/>
                </a:solidFill>
                <a:latin typeface="Calibri"/>
              </a:rPr>
              <a:t>Future work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multi-annotator gold standard, a more context-aware distress model, and validation on real (non-synthetic) text.</a:t>
            </a:r>
          </a:p>
        </p:txBody>
      </p:sp>
      <p:pic>
        <p:nvPicPr>
          <p:cNvPr id="11" name="Picture 10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