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t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486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01168" y="64008"/>
            <a:ext cx="1051560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i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953" y="100584"/>
            <a:ext cx="895989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35040" y="64008"/>
            <a:ext cx="585216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Faculty of Digital Medical Technologies</a:t>
            </a:r>
          </a:p>
          <a:p>
            <a:pPr algn="r"/>
            <a:r>
              <a:rPr sz="950" b="0" i="0">
                <a:solidFill>
                  <a:srgbClr val="CBE2EC"/>
                </a:solidFill>
                <a:latin typeface="Calibri"/>
              </a:rPr>
              <a:t>LLM / Generative AI  ·  Spring 2026</a:t>
            </a:r>
          </a:p>
        </p:txBody>
      </p:sp>
      <p:pic>
        <p:nvPicPr>
          <p:cNvPr id="7" name="Picture 6" descr="hit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92240"/>
            <a:ext cx="5486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K.T.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81447" y="6492240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8095" y="6492240"/>
            <a:ext cx="5486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Calibri"/>
              </a:rPr>
              <a:t>HIT — Holon Institute of Technology</a:t>
            </a:r>
          </a:p>
        </p:txBody>
      </p:sp>
      <p:pic>
        <p:nvPicPr>
          <p:cNvPr id="11" name="Picture 10" descr="hi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2767" y="1143000"/>
            <a:ext cx="3566160" cy="138298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998567" y="2907792"/>
            <a:ext cx="2194560" cy="32004"/>
          </a:xfrm>
          <a:prstGeom prst="rect">
            <a:avLst/>
          </a:prstGeom>
          <a:solidFill>
            <a:srgbClr val="1FA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154680"/>
            <a:ext cx="1036015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100" b="1" i="0">
                <a:solidFill>
                  <a:srgbClr val="0D1B6E"/>
                </a:solidFill>
                <a:latin typeface="Cambria"/>
              </a:rPr>
              <a:t>Dominant Psychosocial Response &amp; Distress
Classification in Oncology Messages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526280"/>
            <a:ext cx="94457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 i="0">
                <a:solidFill>
                  <a:srgbClr val="16828E"/>
                </a:solidFill>
                <a:latin typeface="Calibri"/>
              </a:rPr>
              <a:t>Interim  -  dataset, baselines, and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44068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666666"/>
                </a:solidFill>
                <a:latin typeface="Calibri"/>
              </a:rPr>
              <a:t>K.T.   |   HIT   |   A.A.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t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486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01168" y="64008"/>
            <a:ext cx="1051560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i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953" y="100584"/>
            <a:ext cx="895989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35040" y="64008"/>
            <a:ext cx="585216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Faculty of Digital Medical Technologies</a:t>
            </a:r>
          </a:p>
          <a:p>
            <a:pPr algn="r"/>
            <a:r>
              <a:rPr sz="950" b="0" i="0">
                <a:solidFill>
                  <a:srgbClr val="CBE2EC"/>
                </a:solidFill>
                <a:latin typeface="Calibri"/>
              </a:rPr>
              <a:t>LLM / Generative AI  ·  Spring 2026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841248"/>
            <a:ext cx="475488" cy="475488"/>
          </a:xfrm>
          <a:prstGeom prst="ellipse">
            <a:avLst/>
          </a:prstGeom>
          <a:solidFill>
            <a:srgbClr val="0D1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85039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828E"/>
                </a:solidFill>
                <a:latin typeface="Calibri"/>
              </a:rPr>
              <a:t>PROJECT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1161288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D1B6E"/>
                </a:solidFill>
                <a:latin typeface="Cambria"/>
              </a:rPr>
              <a:t>Where the project stands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108813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500" b="0" i="0">
                <a:solidFill>
                  <a:srgbClr val="1FA6C1"/>
                </a:solidFill>
                <a:latin typeface="Calibri"/>
              </a:rPr>
              <a:t>●  Motivation: triage the emotional state behind oncology messages - which response dominates, and how intense the distress.</a:t>
            </a:r>
          </a:p>
          <a:p>
            <a:pPr algn="l">
              <a:spcAft>
                <a:spcPts val="1300"/>
              </a:spcAft>
            </a:pPr>
            <a:r>
              <a:rPr sz="1500" b="0" i="0">
                <a:solidFill>
                  <a:srgbClr val="1FA6C1"/>
                </a:solidFill>
                <a:latin typeface="Calibri"/>
              </a:rPr>
              <a:t>●  Task: 7-class psychosocial response + 3-level ordinal distress, predicted by separate models.</a:t>
            </a:r>
          </a:p>
          <a:p>
            <a:pPr algn="l">
              <a:spcAft>
                <a:spcPts val="1300"/>
              </a:spcAft>
            </a:pPr>
            <a:r>
              <a:rPr sz="1500" b="0" i="0">
                <a:solidFill>
                  <a:srgbClr val="1FA6C1"/>
                </a:solidFill>
                <a:latin typeface="Calibri"/>
              </a:rPr>
              <a:t>●  Changed from the proposal: reframed “emotion” to “dominant psychosocial response”; added dual-LLM-judge auditing, quality tiers, and a strict label-leakage ban.</a:t>
            </a:r>
          </a:p>
          <a:p>
            <a:pPr algn="l">
              <a:spcAft>
                <a:spcPts val="1300"/>
              </a:spcAft>
            </a:pPr>
            <a:r>
              <a:rPr sz="1500" b="0" i="0">
                <a:solidFill>
                  <a:srgbClr val="1FA6C1"/>
                </a:solidFill>
                <a:latin typeface="Calibri"/>
              </a:rPr>
              <a:t>●  Novelty: fine-grained response + ordinal distress on a fully synthetic, attribute-controlled corpus with auditing and blind human validation.</a:t>
            </a:r>
          </a:p>
        </p:txBody>
      </p:sp>
      <p:pic>
        <p:nvPicPr>
          <p:cNvPr id="11" name="Picture 10" descr="hit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6492240"/>
            <a:ext cx="5486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K.T.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1447" y="6492240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8095" y="6492240"/>
            <a:ext cx="5486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Calibri"/>
              </a:rPr>
              <a:t>HIT — Holon Institute of Technology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t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486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01168" y="64008"/>
            <a:ext cx="1051560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i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953" y="100584"/>
            <a:ext cx="895989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35040" y="64008"/>
            <a:ext cx="585216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Faculty of Digital Medical Technologies</a:t>
            </a:r>
          </a:p>
          <a:p>
            <a:pPr algn="r"/>
            <a:r>
              <a:rPr sz="950" b="0" i="0">
                <a:solidFill>
                  <a:srgbClr val="CBE2EC"/>
                </a:solidFill>
                <a:latin typeface="Calibri"/>
              </a:rPr>
              <a:t>LLM / Generative AI  ·  Spring 2026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841248"/>
            <a:ext cx="475488" cy="475488"/>
          </a:xfrm>
          <a:prstGeom prst="ellipse">
            <a:avLst/>
          </a:prstGeom>
          <a:solidFill>
            <a:srgbClr val="0D1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85039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828E"/>
                </a:solidFill>
                <a:latin typeface="Calibri"/>
              </a:rPr>
              <a:t>PREVIOUS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1161288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D1B6E"/>
                </a:solidFill>
                <a:latin typeface="Cambria"/>
              </a:rPr>
              <a:t>Four anchors from recent literature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828800"/>
          <a:ext cx="109270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840480"/>
                <a:gridCol w="5257800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Work</a:t>
                      </a:r>
                    </a:p>
                  </a:txBody>
                  <a:tcPr marL="73152" marR="73152" marT="27432" marB="27432" anchor="ctr">
                    <a:solidFill>
                      <a:srgbClr val="0D1B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Focus</a:t>
                      </a:r>
                    </a:p>
                  </a:txBody>
                  <a:tcPr marL="73152" marR="73152" marT="27432" marB="27432" anchor="ctr">
                    <a:solidFill>
                      <a:srgbClr val="0D1B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Relation to our project</a:t>
                      </a:r>
                    </a:p>
                  </a:txBody>
                  <a:tcPr marL="73152" marR="73152" marT="27432" marB="27432" anchor="ctr">
                    <a:solidFill>
                      <a:srgbClr val="0D1B6E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Yu et al. 2023
(NeurIPS)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Attribute-conditioned synthetic generation; diversity vs. bias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Justifies our attribute-based generation (role, stage, type, tone, ...)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Li et al. 2023
(EMNLP)</a:t>
                      </a:r>
                    </a:p>
                  </a:txBody>
                  <a:tcPr marL="73152" marR="73152" marT="27432" marB="27432" anchor="ctr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Synthetic data is weaker for subjective tasks</a:t>
                      </a:r>
                    </a:p>
                  </a:txBody>
                  <a:tcPr marL="73152" marR="73152" marT="27432" marB="27432" anchor="ctr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Justifies our strict audit, quality tiers, and human check</a:t>
                      </a:r>
                    </a:p>
                  </a:txBody>
                  <a:tcPr marL="73152" marR="73152" marT="27432" marB="27432" anchor="ctr">
                    <a:solidFill>
                      <a:srgbClr val="EAF1F6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Zheng et al. 2023
(NeurIPS)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LLM judges are scalable but biased (position, verbosity, ...)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Precedent for LLM evaluation; motivates two judges + human validation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Xu et al. 2026
(PLOS Dig. Health)</a:t>
                      </a:r>
                    </a:p>
                  </a:txBody>
                  <a:tcPr marL="73152" marR="73152" marT="27432" marB="27432" anchor="ctr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LLM annotation + emotional-tone classification of cancer posts</a:t>
                      </a:r>
                    </a:p>
                  </a:txBody>
                  <a:tcPr marL="73152" marR="73152" marT="27432" marB="27432" anchor="ctr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22222"/>
                          </a:solidFill>
                          <a:latin typeface="Calibri"/>
                        </a:rPr>
                        <a:t>Closest domain baseline and the reference point for our novelty</a:t>
                      </a:r>
                    </a:p>
                  </a:txBody>
                  <a:tcPr marL="73152" marR="73152" marT="27432" marB="27432" anchor="ctr">
                    <a:solidFill>
                      <a:srgbClr val="EAF1F6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6053328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16828E"/>
                </a:solidFill>
                <a:latin typeface="Calibri"/>
              </a:rPr>
              <a:t>Novelty vs. Xu et al.: 7 response classes (not Neg/Neu/Pos) + a separate ordinal distress task + a synthetic attribute-controlled corpus + dual-judge tiers + human-ambiguity analysis.</a:t>
            </a:r>
          </a:p>
        </p:txBody>
      </p:sp>
      <p:pic>
        <p:nvPicPr>
          <p:cNvPr id="12" name="Picture 11" descr="hit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6492240"/>
            <a:ext cx="5486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K.T.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1447" y="6492240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8095" y="6492240"/>
            <a:ext cx="5486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Calibri"/>
              </a:rPr>
              <a:t>HIT — Holon Institute of Technology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t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486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01168" y="64008"/>
            <a:ext cx="1051560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i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953" y="100584"/>
            <a:ext cx="895989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35040" y="64008"/>
            <a:ext cx="585216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Faculty of Digital Medical Technologies</a:t>
            </a:r>
          </a:p>
          <a:p>
            <a:pPr algn="r"/>
            <a:r>
              <a:rPr sz="950" b="0" i="0">
                <a:solidFill>
                  <a:srgbClr val="CBE2EC"/>
                </a:solidFill>
                <a:latin typeface="Calibri"/>
              </a:rPr>
              <a:t>LLM / Generative AI  ·  Spring 2026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841248"/>
            <a:ext cx="475488" cy="475488"/>
          </a:xfrm>
          <a:prstGeom prst="ellipse">
            <a:avLst/>
          </a:prstGeom>
          <a:solidFill>
            <a:srgbClr val="0D1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85039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828E"/>
                </a:solidFill>
                <a:latin typeface="Calibri"/>
              </a:rPr>
              <a:t>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1161288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D1B6E"/>
                </a:solidFill>
                <a:latin typeface="Cambria"/>
              </a:rPr>
              <a:t>A synthetic, audited corpus</a:t>
            </a:r>
          </a:p>
        </p:txBody>
      </p:sp>
      <p:pic>
        <p:nvPicPr>
          <p:cNvPr id="10" name="Picture 9" descr="eda_overview_sl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74519"/>
            <a:ext cx="7040880" cy="41071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26679" y="2011680"/>
            <a:ext cx="39319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350" b="0" i="0">
                <a:solidFill>
                  <a:srgbClr val="1FA6C1"/>
                </a:solidFill>
                <a:latin typeface="Calibri"/>
              </a:rPr>
              <a:t>●  Corpus funnel: 2033 generated, 2025 valid audited, 1273 model-ready (used in experiments).</a:t>
            </a:r>
          </a:p>
          <a:p>
            <a:pPr algn="l">
              <a:spcAft>
                <a:spcPts val="1200"/>
              </a:spcAft>
            </a:pPr>
            <a:r>
              <a:rPr sz="1350" b="0" i="0">
                <a:solidFill>
                  <a:srgbClr val="1FA6C1"/>
                </a:solidFill>
                <a:latin typeface="Calibri"/>
              </a:rPr>
              <a:t>●  Generated by attribute-based prompting; labeled by two blind LLM judges into strict / silver / consensus tiers.</a:t>
            </a:r>
          </a:p>
          <a:p>
            <a:pPr algn="l">
              <a:spcAft>
                <a:spcPts val="1200"/>
              </a:spcAft>
            </a:pPr>
            <a:r>
              <a:rPr sz="1350" b="0" i="0">
                <a:solidFill>
                  <a:srgbClr val="1FA6C1"/>
                </a:solidFill>
                <a:latin typeface="Calibri"/>
              </a:rPr>
              <a:t>●  EDA reading: strong class imbalance (anxiety and medium-distress dominate); messages are short (median 31 words).</a:t>
            </a:r>
          </a:p>
          <a:p>
            <a:pPr algn="l">
              <a:spcAft>
                <a:spcPts val="1200"/>
              </a:spcAft>
            </a:pPr>
            <a:r>
              <a:rPr sz="1350" b="0" i="0">
                <a:solidFill>
                  <a:srgbClr val="1FA6C1"/>
                </a:solidFill>
                <a:latin typeface="Calibri"/>
              </a:rPr>
              <a:t>●  Distributions reflect the generation pipeline, not real-world prevalence.</a:t>
            </a:r>
          </a:p>
        </p:txBody>
      </p:sp>
      <p:pic>
        <p:nvPicPr>
          <p:cNvPr id="12" name="Picture 11" descr="hit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6492240"/>
            <a:ext cx="5486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K.T.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1447" y="6492240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8095" y="6492240"/>
            <a:ext cx="5486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Calibri"/>
              </a:rPr>
              <a:t>HIT — Holon Institute of Technology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t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486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01168" y="64008"/>
            <a:ext cx="1051560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i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953" y="100584"/>
            <a:ext cx="895989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35040" y="64008"/>
            <a:ext cx="585216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Faculty of Digital Medical Technologies</a:t>
            </a:r>
          </a:p>
          <a:p>
            <a:pPr algn="r"/>
            <a:r>
              <a:rPr sz="950" b="0" i="0">
                <a:solidFill>
                  <a:srgbClr val="CBE2EC"/>
                </a:solidFill>
                <a:latin typeface="Calibri"/>
              </a:rPr>
              <a:t>LLM / Generative AI  ·  Spring 2026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841248"/>
            <a:ext cx="475488" cy="475488"/>
          </a:xfrm>
          <a:prstGeom prst="ellipse">
            <a:avLst/>
          </a:prstGeom>
          <a:solidFill>
            <a:srgbClr val="0D1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85039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828E"/>
                </a:solidFill>
                <a:latin typeface="Calibri"/>
              </a:rPr>
              <a:t>BASELINE &amp;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1161288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D1B6E"/>
                </a:solidFill>
                <a:latin typeface="Cambria"/>
              </a:rPr>
              <a:t>Baselines and first results</a:t>
            </a:r>
          </a:p>
        </p:txBody>
      </p:sp>
      <p:pic>
        <p:nvPicPr>
          <p:cNvPr id="10" name="Picture 9" descr="results_response_macroF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522" y="1874519"/>
            <a:ext cx="5411755" cy="2651760"/>
          </a:xfrm>
          <a:prstGeom prst="rect">
            <a:avLst/>
          </a:prstGeom>
        </p:spPr>
      </p:pic>
      <p:pic>
        <p:nvPicPr>
          <p:cNvPr id="11" name="Picture 10" descr="results_distress_macroF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1874519"/>
            <a:ext cx="5577840" cy="237058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470916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FA6C1"/>
                </a:solidFill>
                <a:latin typeface="Calibri"/>
              </a:rPr>
              <a:t>●  Off-the-shelf baseline = zero-shot BART. Both supervised families had higher point estimates than zero-shot; the gap was bootstrap-reliable for both families on distress and for TF-IDF-B on response.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FA6C1"/>
                </a:solidFill>
                <a:latin typeface="Calibri"/>
              </a:rPr>
              <a:t>●  Error inspection: response shows an anger artifact (the model appears more closely aligned with the dual-judge policy than with the independent annotator's reading); distress error concentrates at the low / medium boundary.</a:t>
            </a:r>
          </a:p>
        </p:txBody>
      </p:sp>
      <p:pic>
        <p:nvPicPr>
          <p:cNvPr id="13" name="Picture 12" descr="hit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6492240"/>
            <a:ext cx="5486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K.T.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1447" y="6492240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8095" y="6492240"/>
            <a:ext cx="5486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Calibri"/>
              </a:rPr>
              <a:t>HIT — Holon Institute of Technology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it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486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01168" y="64008"/>
            <a:ext cx="1051560" cy="42062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i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953" y="100584"/>
            <a:ext cx="895989" cy="3474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35040" y="64008"/>
            <a:ext cx="5852160" cy="429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Faculty of Digital Medical Technologies</a:t>
            </a:r>
          </a:p>
          <a:p>
            <a:pPr algn="r"/>
            <a:r>
              <a:rPr sz="950" b="0" i="0">
                <a:solidFill>
                  <a:srgbClr val="CBE2EC"/>
                </a:solidFill>
                <a:latin typeface="Calibri"/>
              </a:rPr>
              <a:t>LLM / Generative AI  ·  Spring 2026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841248"/>
            <a:ext cx="475488" cy="475488"/>
          </a:xfrm>
          <a:prstGeom prst="ellipse">
            <a:avLst/>
          </a:prstGeom>
          <a:solidFill>
            <a:srgbClr val="0D1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85039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828E"/>
                </a:solidFill>
                <a:latin typeface="Calibri"/>
              </a:rPr>
              <a:t>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1161288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D1B6E"/>
                </a:solidFill>
                <a:latin typeface="Cambria"/>
              </a:rPr>
              <a:t>Steps, scope and status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874519"/>
          <a:ext cx="109270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6035040"/>
                <a:gridCol w="251460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marL="73152" marR="73152" marT="27432" marB="27432" anchor="ctr">
                    <a:solidFill>
                      <a:srgbClr val="0D1B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Scope</a:t>
                      </a:r>
                    </a:p>
                  </a:txBody>
                  <a:tcPr marL="73152" marR="73152" marT="27432" marB="27432" anchor="ctr">
                    <a:solidFill>
                      <a:srgbClr val="0D1B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0D1B6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Data generation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Attribute-based generation + rejection sampling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Auditing &amp; tiers</a:t>
                      </a:r>
                    </a:p>
                  </a:txBody>
                  <a:tcPr marL="73152" marR="73152" marT="27432" marB="27432" anchor="ctr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Dual-LLM-judge audit, strict / silver / consensus</a:t>
                      </a:r>
                    </a:p>
                  </a:txBody>
                  <a:tcPr marL="73152" marR="73152" marT="27432" marB="27432" anchor="ctr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73152" marR="73152" marT="27432" marB="27432" anchor="ctr">
                    <a:solidFill>
                      <a:srgbClr val="EAF1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Splits &amp; human check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Train/val/test + blind human annotation of test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Modelling</a:t>
                      </a:r>
                    </a:p>
                  </a:txBody>
                  <a:tcPr marL="73152" marR="73152" marT="27432" marB="27432" anchor="ctr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TF-IDF, DistilBERT (A/B/C, 5 seeds), zero-shot</a:t>
                      </a:r>
                    </a:p>
                  </a:txBody>
                  <a:tcPr marL="73152" marR="73152" marT="27432" marB="27432" anchor="ctr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73152" marR="73152" marT="27432" marB="27432" anchor="ctr">
                    <a:solidFill>
                      <a:srgbClr val="EAF1F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Evaluation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Bootstrap CIs, error analysis, human reference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Final presentation</a:t>
                      </a:r>
                    </a:p>
                  </a:txBody>
                  <a:tcPr marL="73152" marR="73152" marT="27432" marB="27432" anchor="ctr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Assemble repo, slides, visual abstract</a:t>
                      </a:r>
                    </a:p>
                  </a:txBody>
                  <a:tcPr marL="73152" marR="73152" marT="27432" marB="27432" anchor="ctr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 marL="73152" marR="73152" marT="27432" marB="27432" anchor="ctr">
                    <a:solidFill>
                      <a:srgbClr val="EAF1F6"/>
                    </a:solidFill>
                  </a:tcPr>
                </a:tc>
              </a:tr>
            </a:tbl>
          </a:graphicData>
        </a:graphic>
      </p:graphicFrame>
      <p:pic>
        <p:nvPicPr>
          <p:cNvPr id="11" name="Picture 10" descr="hit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3952"/>
            <a:ext cx="12191695" cy="3840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6492240"/>
            <a:ext cx="5486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K.T.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1447" y="6492240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8095" y="6492240"/>
            <a:ext cx="5486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Calibri"/>
              </a:rPr>
              <a:t>HIT — Holon Institute of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