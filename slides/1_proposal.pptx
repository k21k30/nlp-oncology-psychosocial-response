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pic>
        <p:nvPicPr>
          <p:cNvPr id="7" name="Picture 6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  <p:pic>
        <p:nvPicPr>
          <p:cNvPr id="11" name="Picture 10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67" y="1143000"/>
            <a:ext cx="3566160" cy="13829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98567" y="2907792"/>
            <a:ext cx="2194560" cy="32004"/>
          </a:xfrm>
          <a:prstGeom prst="rect">
            <a:avLst/>
          </a:prstGeom>
          <a:solidFill>
            <a:srgbClr val="1FA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0" b="1" i="0">
                <a:solidFill>
                  <a:srgbClr val="0D1B6E"/>
                </a:solidFill>
                <a:latin typeface="Cambria"/>
              </a:rPr>
              <a:t>Dominant Psychosocial Response &amp; Distress
Classification in Oncology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16828E"/>
                </a:solidFill>
                <a:latin typeface="Calibri"/>
              </a:rPr>
              <a:t>Updated proposal  -  a novel, synthetic, label-leakage-controlled NLP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Calibri"/>
              </a:rPr>
              <a:t>K.T.   |   HIT   |   A.A.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MOTIVATING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Reading the emotional state behind oncology 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67665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Background: a cancer diagnosis carries a heavy psychosocial burden; supportive-care teams want to triage emotional state from patient-generated text.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Why it matters: distress drives care needs. Two signals matter - which response dominates, and how intense the distress is.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Why it is challenging: no public labeled dataset for this framing, and emotional labels are subjective and expensive to annotate.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How it is solved today: manual screening (e.g. distress thermometers) and generic sentiment tools that miss fine-grained, mixed affect.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011680"/>
            <a:ext cx="3749039" cy="347472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176272"/>
            <a:ext cx="3419856" cy="314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D1B6E"/>
                </a:solidFill>
                <a:latin typeface="Cambria"/>
              </a:rPr>
              <a:t>Two questions per message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1)  Dominant psychosocial response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      anxiety, sadness, anger, hope,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      guilt, denial, acceptance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2)  Distress intensity (ordinal)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      low  &lt;  medium  &lt;  high</a:t>
            </a:r>
          </a:p>
        </p:txBody>
      </p:sp>
      <p:pic>
        <p:nvPicPr>
          <p:cNvPr id="13" name="Picture 1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PROJECT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Two labels per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Formal task:  f(text)  -&gt;  (response in 7 classes,  distress in {low, medium, high}).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Input: one English oncology-related message. Output: the dominant response and the ordinal distress level (predicted by separate models).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Novelty: unlike broad sentiment work, we jointly study fine-grained response type and ordinal distress on an attribute-controlled synthetic corpus.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881360" cy="155448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736592"/>
            <a:ext cx="1055217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0D1B6E"/>
                </a:solidFill>
                <a:latin typeface="Calibri"/>
              </a:rPr>
              <a:t>Input  -&gt;  Output  (example)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“Scan is on Thursday. I keep rereading the same line and nothing goes in, and I have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checked my phone for the clinic number ten times tonight.”   -&gt;   anxiety  /  medium</a:t>
            </a:r>
          </a:p>
        </p:txBody>
      </p:sp>
      <p:pic>
        <p:nvPicPr>
          <p:cNvPr id="13" name="Picture 1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MODELS &amp;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Pipeline and three model families</a:t>
            </a:r>
          </a:p>
        </p:txBody>
      </p:sp>
      <p:pic>
        <p:nvPicPr>
          <p:cNvPr id="10" name="Picture 9" descr="visual_abs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412" y="1828800"/>
            <a:ext cx="5400694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Generator: gemma2:27b (Ollama).   Judges: gpt-4o-mini + qwen2.5:32b.   Models compared: TF-IDF + Logistic Regression, fine-tuned DistilBERT, zero-shot BART-MNLI.</a:t>
            </a:r>
          </a:p>
          <a:p>
            <a:pPr algn="l"/>
            <a:r>
              <a:rPr sz="1350" b="0" i="0">
                <a:solidFill>
                  <a:srgbClr val="666666"/>
                </a:solidFill>
                <a:latin typeface="Calibri"/>
              </a:rPr>
              <a:t>Fine-tuning: DistilBERT with class-weighted cross-entropy, separate models for response and distress.</a:t>
            </a:r>
          </a:p>
        </p:txBody>
      </p:sp>
      <p:pic>
        <p:nvPicPr>
          <p:cNvPr id="12" name="Picture 11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DATA SPECIFICATION &amp;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Attribute-based synthetic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67665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FA6C1"/>
                </a:solidFill>
                <a:latin typeface="Calibri"/>
              </a:rPr>
              <a:t>●  Requirements: diverse, realistic, and leakage-free text - the message must never explicitly name the target response label.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FA6C1"/>
                </a:solidFill>
                <a:latin typeface="Calibri"/>
              </a:rPr>
              <a:t>●  Attribute space: role, cancer stage, cancer type, tone, channel, age group, length, noise - sampled to force coverage.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FA6C1"/>
                </a:solidFill>
                <a:latin typeface="Calibri"/>
              </a:rPr>
              <a:t>●  Generate: condition the LLM on attributes + an intended label; reject malformed or constraint-violating outputs; retain confident label drift only when both judges agree on a consensus label.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FA6C1"/>
                </a:solidFill>
                <a:latin typeface="Calibri"/>
              </a:rPr>
              <a:t>●  Label &amp; audit: two blind LLM judges predict the labels; agreement assigns each item to a quality tier.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0" y="2103120"/>
          <a:ext cx="3749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strict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consensus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727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model-ready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1273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METRICS &amp;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How we measure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3520440" cy="17373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084832"/>
            <a:ext cx="319125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6E"/>
                </a:solidFill>
                <a:latin typeface="Cambria"/>
              </a:rPr>
              <a:t>Primary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macro-F1
(equal weight to all classes)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920240"/>
            <a:ext cx="3520440" cy="17373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2084832"/>
            <a:ext cx="319125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6E"/>
                </a:solidFill>
                <a:latin typeface="Cambria"/>
              </a:rPr>
              <a:t>Response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micro / macro precision,
recall, F1 + minority 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20240"/>
            <a:ext cx="3520440" cy="17373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9125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6E"/>
                </a:solidFill>
                <a:latin typeface="Cambria"/>
              </a:rPr>
              <a:t>Distress (ordinal)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weighted kappa, MAE,
severe (low&lt;-&gt;high) rate, per-level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3520440" cy="17373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050791"/>
            <a:ext cx="319125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6E"/>
                </a:solidFill>
                <a:latin typeface="Cambria"/>
              </a:rPr>
              <a:t>Significance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5000-resample paired
bootstrap, 95% CIs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886200"/>
            <a:ext cx="3520440" cy="17373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4050791"/>
            <a:ext cx="319125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6E"/>
                </a:solidFill>
                <a:latin typeface="Cambria"/>
              </a:rPr>
              <a:t>Human check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Cohen / weighted kappa vs.
a blind annotator on the test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886200"/>
            <a:ext cx="3520440" cy="17373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4050791"/>
            <a:ext cx="319125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6E"/>
                </a:solidFill>
                <a:latin typeface="Cambria"/>
              </a:rPr>
              <a:t>Guardrail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test set never used for tuning
(validation only)</a:t>
            </a:r>
          </a:p>
        </p:txBody>
      </p:sp>
      <p:pic>
        <p:nvPicPr>
          <p:cNvPr id="22" name="Picture 21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